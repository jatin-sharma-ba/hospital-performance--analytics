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2000"/>
  <p:notesSz cx="6858000" cy="9144000"/>
  <p:embeddedFontLst>
    <p:embeddedFont>
      <p:font typeface="Play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gVnwTpy2KTRY/uzc6MMJuUW++h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Play-regular.fntdata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customschemas.google.com/relationships/presentationmetadata" Target="metadata"/><Relationship Id="rId25" Type="http://schemas.openxmlformats.org/officeDocument/2006/relationships/font" Target="fonts/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 amt="50000"/>
          </a:blip>
          <a:srcRect b="0" l="0" r="25" t="0"/>
          <a:stretch/>
        </p:blipFill>
        <p:spPr>
          <a:xfrm>
            <a:off x="20" y="10"/>
            <a:ext cx="1218893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>
            <p:ph type="ctrTitle"/>
          </p:nvPr>
        </p:nvSpPr>
        <p:spPr>
          <a:xfrm>
            <a:off x="1524000" y="1122363"/>
            <a:ext cx="9144000" cy="30632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100"/>
              <a:buFont typeface="Arial"/>
              <a:buNone/>
            </a:pPr>
            <a:r>
              <a:rPr lang="en-US" sz="6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Hospital Performance &amp; Readmission Analytics System</a:t>
            </a:r>
            <a:endParaRPr sz="6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>
            <p:ph idx="1" type="subTitle"/>
          </p:nvPr>
        </p:nvSpPr>
        <p:spPr>
          <a:xfrm>
            <a:off x="1527048" y="4599432"/>
            <a:ext cx="9144000" cy="1536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b="0" i="0" lang="en-US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Name: Jatin Sharma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b="0" i="0" lang="en-US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Domain: Healthcare Analytics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b="0" i="0" lang="en-US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Tools: Excel | MySQL | Power BI</a:t>
            </a:r>
            <a:endParaRPr b="0" i="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3974206" y="4368623"/>
            <a:ext cx="4243589" cy="18288"/>
          </a:xfrm>
          <a:custGeom>
            <a:rect b="b" l="l" r="r" t="t"/>
            <a:pathLst>
              <a:path extrusionOk="0" fill="none" h="18288" w="4243589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extrusionOk="0" h="18288" w="4243589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4901"/>
            </a:srgbClr>
          </a:solidFill>
          <a:ln cap="rnd" cmpd="sng" w="44450">
            <a:solidFill>
              <a:schemeClr val="lt1">
                <a:alpha val="74901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6096000" y="34290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6248400" y="-685800"/>
            <a:ext cx="45720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 txBox="1"/>
          <p:nvPr>
            <p:ph type="ctrTitle"/>
          </p:nvPr>
        </p:nvSpPr>
        <p:spPr>
          <a:xfrm>
            <a:off x="841251" y="548650"/>
            <a:ext cx="5860200" cy="54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</a:pPr>
            <a:r>
              <a:rPr b="1" lang="en-US" sz="5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PROJECT OVERVIEW</a:t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 rot="5400000">
            <a:off x="2543983" y="3258715"/>
            <a:ext cx="4480560" cy="18288"/>
          </a:xfrm>
          <a:custGeom>
            <a:rect b="b" l="l" r="r" t="t"/>
            <a:pathLst>
              <a:path extrusionOk="0" fill="none" h="18288" w="448056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extrusionOk="0" h="18288" w="448056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/>
          <p:nvPr>
            <p:ph idx="1" type="subTitle"/>
          </p:nvPr>
        </p:nvSpPr>
        <p:spPr>
          <a:xfrm>
            <a:off x="5126418" y="552091"/>
            <a:ext cx="6224335" cy="5431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b="1" lang="en-US" sz="2200"/>
              <a:t>A multi-specialty hospital is experiencing operational and financial inefficiencies impacting both patient outcomes and revenue performance.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Key challenges identified: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Increasing 30-day readmission rates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High insurance claim rejection levels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Revenue leakage due to rejected claims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Inefficient bed occupancy management</a:t>
            </a:r>
            <a:endParaRPr/>
          </a:p>
          <a:p>
            <a:pPr indent="1397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lang="en-US" sz="2200"/>
              <a:t>Objective: To design and implement a data-driven hospital performance monitoring system enabling strategic decision-making.</a:t>
            </a:r>
            <a:endParaRPr/>
          </a:p>
          <a:p>
            <a:pPr indent="-88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/>
          <p:nvPr/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 txBox="1"/>
          <p:nvPr>
            <p:ph type="ctrTitle"/>
          </p:nvPr>
        </p:nvSpPr>
        <p:spPr>
          <a:xfrm>
            <a:off x="1156851" y="637762"/>
            <a:ext cx="9888496" cy="90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ay"/>
              <a:buNone/>
            </a:pPr>
            <a:r>
              <a:rPr b="1" lang="en-US" sz="40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PROBLEM STATEMENT</a:t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 txBox="1"/>
          <p:nvPr>
            <p:ph idx="1" type="subTitle"/>
          </p:nvPr>
        </p:nvSpPr>
        <p:spPr>
          <a:xfrm>
            <a:off x="1155548" y="2217343"/>
            <a:ext cx="9880893" cy="39596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1" lang="en-US"/>
              <a:t>The hospital management lacks an integrated analytics system to monitor: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• Readmission risk and patient quality metrics</a:t>
            </a:r>
            <a:br>
              <a:rPr lang="en-US"/>
            </a:br>
            <a:r>
              <a:rPr lang="en-US"/>
              <a:t>• Revenue loss due to insurance claim rejections</a:t>
            </a:r>
            <a:br>
              <a:rPr lang="en-US"/>
            </a:br>
            <a:r>
              <a:rPr lang="en-US"/>
              <a:t>• Department-level financial performance</a:t>
            </a:r>
            <a:br>
              <a:rPr lang="en-US"/>
            </a:br>
            <a:r>
              <a:rPr lang="en-US"/>
              <a:t>• Payer settlement efficiency</a:t>
            </a:r>
            <a:br>
              <a:rPr lang="en-US"/>
            </a:br>
            <a:r>
              <a:rPr lang="en-US"/>
              <a:t>• Operational capacity utilization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1" lang="en-US"/>
              <a:t>A centralized analytics framework is required to improve financial efficiency and patient outcomes.</a:t>
            </a:r>
            <a:endParaRPr/>
          </a:p>
          <a:p>
            <a:pPr indent="1524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ctrTitle"/>
          </p:nvPr>
        </p:nvSpPr>
        <p:spPr>
          <a:xfrm>
            <a:off x="6417733" y="490537"/>
            <a:ext cx="5291663" cy="162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b="1" lang="en-US" sz="4000"/>
              <a:t>BUSINESS USE CASES</a:t>
            </a:r>
            <a:endParaRPr/>
          </a:p>
        </p:txBody>
      </p:sp>
      <p:pic>
        <p:nvPicPr>
          <p:cNvPr descr="Books on a briefcase" id="114" name="Google Shape;114;p4"/>
          <p:cNvPicPr preferRelativeResize="0"/>
          <p:nvPr/>
        </p:nvPicPr>
        <p:blipFill rotWithShape="1">
          <a:blip r:embed="rId3">
            <a:alphaModFix/>
          </a:blip>
          <a:srcRect b="0" l="19445" r="18095" t="0"/>
          <a:stretch/>
        </p:blipFill>
        <p:spPr>
          <a:xfrm>
            <a:off x="2" y="1587"/>
            <a:ext cx="6095999" cy="6856413"/>
          </a:xfrm>
          <a:custGeom>
            <a:rect b="b" l="l" r="r" t="t"/>
            <a:pathLst>
              <a:path extrusionOk="0" h="6856413" w="6649908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15" name="Google Shape;115;p4"/>
          <p:cNvSpPr txBox="1"/>
          <p:nvPr>
            <p:ph idx="1" type="subTitle"/>
          </p:nvPr>
        </p:nvSpPr>
        <p:spPr>
          <a:xfrm>
            <a:off x="6417734" y="2614612"/>
            <a:ext cx="5291663" cy="3752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The system is designed to support:</a:t>
            </a:r>
            <a:endParaRPr/>
          </a:p>
          <a:p>
            <a:pPr indent="1143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/>
          </a:p>
          <a:p>
            <a:pPr indent="-2286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/>
              <a:t>Monitoring hospital readmission trends</a:t>
            </a:r>
            <a:endParaRPr/>
          </a:p>
          <a:p>
            <a:pPr indent="-2286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/>
              <a:t>Revenue leakage analysis</a:t>
            </a:r>
            <a:endParaRPr/>
          </a:p>
          <a:p>
            <a:pPr indent="-2286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/>
              <a:t>High-risk patient identification</a:t>
            </a:r>
            <a:endParaRPr/>
          </a:p>
          <a:p>
            <a:pPr indent="-2286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/>
              <a:t>Department-wise revenue tracking</a:t>
            </a:r>
            <a:endParaRPr/>
          </a:p>
          <a:p>
            <a:pPr indent="-2286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/>
              <a:t>Payer settlement efficiency analysis</a:t>
            </a:r>
            <a:endParaRPr/>
          </a:p>
          <a:p>
            <a:pPr indent="-2286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/>
              <a:t>Bed occupancy monitoring &amp; operational planning</a:t>
            </a:r>
            <a:endParaRPr/>
          </a:p>
          <a:p>
            <a:pPr indent="1143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</a:pPr>
            <a:r>
              <a:rPr lang="en-US" sz="5400"/>
              <a:t>DATASET OVERVIEW</a:t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669036" y="1677373"/>
            <a:ext cx="10853928" cy="18288"/>
          </a:xfrm>
          <a:custGeom>
            <a:rect b="b" l="l" r="r" t="t"/>
            <a:pathLst>
              <a:path extrusionOk="0" fill="none" h="18288" w="10853928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extrusionOk="0" h="18288" w="10853928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"/>
          <p:cNvSpPr txBox="1"/>
          <p:nvPr>
            <p:ph idx="1" type="body"/>
          </p:nvPr>
        </p:nvSpPr>
        <p:spPr>
          <a:xfrm>
            <a:off x="838200" y="1929384"/>
            <a:ext cx="10515600" cy="4251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The project utilized five structured datasets:</a:t>
            </a:r>
            <a:endParaRPr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AutoNum type="arabicPeriod"/>
            </a:pPr>
            <a:r>
              <a:rPr b="1" lang="en-US" sz="2000"/>
              <a:t>Patient Master Data (10,000+ records)</a:t>
            </a:r>
            <a:br>
              <a:rPr b="1" lang="en-US" sz="2000"/>
            </a:br>
            <a:r>
              <a:rPr b="1" lang="en-US" sz="2000"/>
              <a:t>– Demographics, admissions, discharge details, billing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AutoNum type="arabicPeriod"/>
            </a:pPr>
            <a:r>
              <a:rPr b="1" lang="en-US" sz="2000"/>
              <a:t>Insurance Claims Data</a:t>
            </a:r>
            <a:br>
              <a:rPr b="1" lang="en-US" sz="2000"/>
            </a:br>
            <a:r>
              <a:rPr b="1" lang="en-US" sz="2000"/>
              <a:t>– Claim amount, status, payer, settlement timelines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AutoNum type="arabicPeriod"/>
            </a:pPr>
            <a:r>
              <a:rPr b="1" lang="en-US" sz="2000"/>
              <a:t>Treatment Cost Data</a:t>
            </a:r>
            <a:br>
              <a:rPr b="1" lang="en-US" sz="2000"/>
            </a:br>
            <a:r>
              <a:rPr b="1" lang="en-US" sz="2000"/>
              <a:t>– Patient-level cost aggregation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AutoNum type="arabicPeriod"/>
            </a:pPr>
            <a:r>
              <a:rPr b="1" lang="en-US" sz="2000"/>
              <a:t>Hospital Operations Data</a:t>
            </a:r>
            <a:br>
              <a:rPr b="1" lang="en-US" sz="2000"/>
            </a:br>
            <a:r>
              <a:rPr b="1" lang="en-US" sz="2000"/>
              <a:t>– Bed availability, occupancy, staffing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AutoNum type="arabicPeriod"/>
            </a:pPr>
            <a:r>
              <a:rPr b="1" lang="en-US" sz="2000"/>
              <a:t>Previous Admission History</a:t>
            </a:r>
            <a:br>
              <a:rPr b="1" lang="en-US" sz="2000"/>
            </a:br>
            <a:r>
              <a:rPr b="1" lang="en-US" sz="2000"/>
              <a:t>– Historical readmission behavior</a:t>
            </a:r>
            <a:endParaRPr b="1" sz="2000"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6"/>
          <p:cNvSpPr txBox="1"/>
          <p:nvPr>
            <p:ph type="title"/>
          </p:nvPr>
        </p:nvSpPr>
        <p:spPr>
          <a:xfrm>
            <a:off x="5297762" y="329184"/>
            <a:ext cx="625111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</a:pPr>
            <a:r>
              <a:rPr b="1" lang="en-US" sz="5400"/>
              <a:t>PROJECT STRUCTURE</a:t>
            </a:r>
            <a:endParaRPr/>
          </a:p>
        </p:txBody>
      </p:sp>
      <p:pic>
        <p:nvPicPr>
          <p:cNvPr descr="Magnifying glass showing decling performance" id="130" name="Google Shape;130;p6"/>
          <p:cNvPicPr preferRelativeResize="0"/>
          <p:nvPr/>
        </p:nvPicPr>
        <p:blipFill rotWithShape="1">
          <a:blip r:embed="rId3">
            <a:alphaModFix/>
          </a:blip>
          <a:srcRect b="-1" l="20774" r="33894" t="0"/>
          <a:stretch/>
        </p:blipFill>
        <p:spPr>
          <a:xfrm>
            <a:off x="1" y="10"/>
            <a:ext cx="4657344" cy="6857990"/>
          </a:xfrm>
          <a:custGeom>
            <a:rect b="b" l="l" r="r" t="t"/>
            <a:pathLst>
              <a:path extrusionOk="0" h="6858000" w="4657344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31" name="Google Shape;131;p6"/>
          <p:cNvSpPr/>
          <p:nvPr/>
        </p:nvSpPr>
        <p:spPr>
          <a:xfrm>
            <a:off x="5297762" y="2374947"/>
            <a:ext cx="4243589" cy="18288"/>
          </a:xfrm>
          <a:custGeom>
            <a:rect b="b" l="l" r="r" t="t"/>
            <a:pathLst>
              <a:path extrusionOk="0" fill="none" h="18288" w="4243589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extrusionOk="0" h="18288" w="4243589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6"/>
          <p:cNvSpPr txBox="1"/>
          <p:nvPr>
            <p:ph idx="1" type="body"/>
          </p:nvPr>
        </p:nvSpPr>
        <p:spPr>
          <a:xfrm>
            <a:off x="5297762" y="2706624"/>
            <a:ext cx="6251110" cy="3483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b="1" lang="en-US" sz="2200"/>
              <a:t>Excel Data Cleaning</a:t>
            </a:r>
            <a:br>
              <a:rPr b="1" lang="en-US" sz="2200"/>
            </a:br>
            <a:r>
              <a:rPr b="1" lang="en-US" sz="2200"/>
              <a:t>                    ⬇</a:t>
            </a:r>
            <a:br>
              <a:rPr b="1" lang="en-US" sz="2200"/>
            </a:br>
            <a:r>
              <a:rPr b="1" lang="en-US" sz="2200"/>
              <a:t>MySQL Schema Implementation</a:t>
            </a:r>
            <a:br>
              <a:rPr b="1" lang="en-US" sz="2200"/>
            </a:br>
            <a:r>
              <a:rPr b="1" lang="en-US" sz="2200"/>
              <a:t>                    ⬇</a:t>
            </a:r>
            <a:br>
              <a:rPr b="1" lang="en-US" sz="2200"/>
            </a:br>
            <a:r>
              <a:rPr b="1" lang="en-US" sz="2200"/>
              <a:t>SQL Analytical Queries </a:t>
            </a:r>
            <a:br>
              <a:rPr b="1" lang="en-US" sz="2200"/>
            </a:br>
            <a:r>
              <a:rPr b="1" lang="en-US" sz="2200"/>
              <a:t>                    ⬇</a:t>
            </a:r>
            <a:br>
              <a:rPr b="1" lang="en-US" sz="2200"/>
            </a:br>
            <a:r>
              <a:rPr b="1" lang="en-US" sz="2200"/>
              <a:t>Power BI Executive Dashboard</a:t>
            </a:r>
            <a:br>
              <a:rPr b="1" lang="en-US" sz="2200"/>
            </a:br>
            <a:r>
              <a:rPr b="1" lang="en-US" sz="2200"/>
              <a:t>                    ⬇</a:t>
            </a:r>
            <a:br>
              <a:rPr b="1" lang="en-US" sz="2200"/>
            </a:br>
            <a:r>
              <a:rPr b="1" lang="en-US" sz="2200"/>
              <a:t>Business Insights &amp; Recommendations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7"/>
          <p:cNvSpPr txBox="1"/>
          <p:nvPr>
            <p:ph type="title"/>
          </p:nvPr>
        </p:nvSpPr>
        <p:spPr>
          <a:xfrm>
            <a:off x="5297762" y="329184"/>
            <a:ext cx="625111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</a:pPr>
            <a:r>
              <a:rPr b="1" lang="en-US" sz="5400"/>
              <a:t>PHASE 1: DATA CLEANING (EXCEL)</a:t>
            </a:r>
            <a:endParaRPr b="1" sz="5400"/>
          </a:p>
        </p:txBody>
      </p:sp>
      <p:pic>
        <p:nvPicPr>
          <p:cNvPr id="139" name="Google Shape;139;p7"/>
          <p:cNvPicPr preferRelativeResize="0"/>
          <p:nvPr/>
        </p:nvPicPr>
        <p:blipFill rotWithShape="1">
          <a:blip r:embed="rId3">
            <a:alphaModFix/>
          </a:blip>
          <a:srcRect b="2" l="6431" r="38560" t="0"/>
          <a:stretch/>
        </p:blipFill>
        <p:spPr>
          <a:xfrm>
            <a:off x="1" y="10"/>
            <a:ext cx="4657344" cy="6857990"/>
          </a:xfrm>
          <a:custGeom>
            <a:rect b="b" l="l" r="r" t="t"/>
            <a:pathLst>
              <a:path extrusionOk="0" h="6858000" w="4657344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40" name="Google Shape;140;p7"/>
          <p:cNvSpPr/>
          <p:nvPr/>
        </p:nvSpPr>
        <p:spPr>
          <a:xfrm>
            <a:off x="5297762" y="2374947"/>
            <a:ext cx="4243589" cy="18288"/>
          </a:xfrm>
          <a:custGeom>
            <a:rect b="b" l="l" r="r" t="t"/>
            <a:pathLst>
              <a:path extrusionOk="0" fill="none" h="18288" w="4243589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extrusionOk="0" h="18288" w="4243589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>
            <p:ph idx="1" type="body"/>
          </p:nvPr>
        </p:nvSpPr>
        <p:spPr>
          <a:xfrm>
            <a:off x="5297761" y="2706624"/>
            <a:ext cx="6669825" cy="3483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All cleaning performed strictly in Excel as per project guidelines.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Key activities: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• Standardization of Gender, Department, Insurance Type</a:t>
            </a:r>
            <a:br>
              <a:rPr b="1" lang="en-US" sz="1500">
                <a:latin typeface="Arial"/>
                <a:ea typeface="Arial"/>
                <a:cs typeface="Arial"/>
                <a:sym typeface="Arial"/>
              </a:rPr>
            </a:b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• Creation of Age Band categories</a:t>
            </a:r>
            <a:br>
              <a:rPr b="1" lang="en-US" sz="1500">
                <a:latin typeface="Arial"/>
                <a:ea typeface="Arial"/>
                <a:cs typeface="Arial"/>
                <a:sym typeface="Arial"/>
              </a:rPr>
            </a:b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• Length of Stay (LOS) calculation</a:t>
            </a:r>
            <a:br>
              <a:rPr b="1" lang="en-US" sz="1500">
                <a:latin typeface="Arial"/>
                <a:ea typeface="Arial"/>
                <a:cs typeface="Arial"/>
                <a:sym typeface="Arial"/>
              </a:rPr>
            </a:b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• Readmission Flag creation (1/0)</a:t>
            </a:r>
            <a:br>
              <a:rPr b="1" lang="en-US" sz="1500">
                <a:latin typeface="Arial"/>
                <a:ea typeface="Arial"/>
                <a:cs typeface="Arial"/>
                <a:sym typeface="Arial"/>
              </a:rPr>
            </a:b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• Settlement Days calculation</a:t>
            </a:r>
            <a:br>
              <a:rPr b="1" lang="en-US" sz="1500">
                <a:latin typeface="Arial"/>
                <a:ea typeface="Arial"/>
                <a:cs typeface="Arial"/>
                <a:sym typeface="Arial"/>
              </a:rPr>
            </a:b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• Occupancy Rate derivation</a:t>
            </a:r>
            <a:br>
              <a:rPr b="1" lang="en-US" sz="1500">
                <a:latin typeface="Arial"/>
                <a:ea typeface="Arial"/>
                <a:cs typeface="Arial"/>
                <a:sym typeface="Arial"/>
              </a:rPr>
            </a:b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• Removal of negative financial values</a:t>
            </a:r>
            <a:br>
              <a:rPr b="1" lang="en-US" sz="1500">
                <a:latin typeface="Arial"/>
                <a:ea typeface="Arial"/>
                <a:cs typeface="Arial"/>
                <a:sym typeface="Arial"/>
              </a:rPr>
            </a:b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• Validation of date sequences</a:t>
            </a:r>
            <a:br>
              <a:rPr b="1" lang="en-US" sz="1500">
                <a:latin typeface="Arial"/>
                <a:ea typeface="Arial"/>
                <a:cs typeface="Arial"/>
                <a:sym typeface="Arial"/>
              </a:rPr>
            </a:b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• Null value treatment using median logic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Cleaned CSV files exported for SQL implementation.</a:t>
            </a:r>
            <a:endParaRPr/>
          </a:p>
          <a:p>
            <a:pPr indent="-1333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8"/>
          <p:cNvSpPr txBox="1"/>
          <p:nvPr>
            <p:ph type="ctrTitle"/>
          </p:nvPr>
        </p:nvSpPr>
        <p:spPr>
          <a:xfrm>
            <a:off x="5297762" y="329184"/>
            <a:ext cx="625111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</a:pPr>
            <a:r>
              <a:rPr b="1" lang="en-US" sz="5400"/>
              <a:t>DATA VALIDATION FRAMEWORK</a:t>
            </a:r>
            <a:endParaRPr/>
          </a:p>
        </p:txBody>
      </p:sp>
      <p:pic>
        <p:nvPicPr>
          <p:cNvPr descr="Illuminated server room panel" id="148" name="Google Shape;148;p8"/>
          <p:cNvPicPr preferRelativeResize="0"/>
          <p:nvPr/>
        </p:nvPicPr>
        <p:blipFill rotWithShape="1">
          <a:blip r:embed="rId3">
            <a:alphaModFix/>
          </a:blip>
          <a:srcRect b="-1" l="23969" r="30700" t="0"/>
          <a:stretch/>
        </p:blipFill>
        <p:spPr>
          <a:xfrm>
            <a:off x="1" y="10"/>
            <a:ext cx="4657344" cy="6857990"/>
          </a:xfrm>
          <a:custGeom>
            <a:rect b="b" l="l" r="r" t="t"/>
            <a:pathLst>
              <a:path extrusionOk="0" h="6858000" w="4657344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49" name="Google Shape;149;p8"/>
          <p:cNvSpPr/>
          <p:nvPr/>
        </p:nvSpPr>
        <p:spPr>
          <a:xfrm>
            <a:off x="5297762" y="2374947"/>
            <a:ext cx="4243589" cy="18288"/>
          </a:xfrm>
          <a:custGeom>
            <a:rect b="b" l="l" r="r" t="t"/>
            <a:pathLst>
              <a:path extrusionOk="0" fill="none" h="18288" w="4243589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extrusionOk="0" h="18288" w="4243589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8"/>
          <p:cNvSpPr txBox="1"/>
          <p:nvPr>
            <p:ph idx="1" type="subTitle"/>
          </p:nvPr>
        </p:nvSpPr>
        <p:spPr>
          <a:xfrm>
            <a:off x="4976214" y="2883685"/>
            <a:ext cx="6961227" cy="3483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5715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1" lang="en-US" sz="2800"/>
              <a:t>Validation checks implemented</a:t>
            </a:r>
            <a:r>
              <a:rPr b="1" lang="en-US" sz="2200"/>
              <a:t>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✔ </a:t>
            </a: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No negative bill or claim values</a:t>
            </a:r>
            <a:br>
              <a:rPr b="1" lang="en-US" sz="2200">
                <a:latin typeface="Arial"/>
                <a:ea typeface="Arial"/>
                <a:cs typeface="Arial"/>
                <a:sym typeface="Arial"/>
              </a:rPr>
            </a:b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✔ No discharge date before admission date</a:t>
            </a:r>
            <a:br>
              <a:rPr b="1" lang="en-US" sz="2200">
                <a:latin typeface="Arial"/>
                <a:ea typeface="Arial"/>
                <a:cs typeface="Arial"/>
                <a:sym typeface="Arial"/>
              </a:rPr>
            </a:b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✔ No settlement date before submission date</a:t>
            </a:r>
            <a:br>
              <a:rPr b="1" lang="en-US" sz="2200">
                <a:latin typeface="Arial"/>
                <a:ea typeface="Arial"/>
                <a:cs typeface="Arial"/>
                <a:sym typeface="Arial"/>
              </a:rPr>
            </a:b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✔ Standardized categorical values</a:t>
            </a:r>
            <a:br>
              <a:rPr b="1" lang="en-US" sz="2200">
                <a:latin typeface="Arial"/>
                <a:ea typeface="Arial"/>
                <a:cs typeface="Arial"/>
                <a:sym typeface="Arial"/>
              </a:rPr>
            </a:b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✔ Null handling logic documented</a:t>
            </a:r>
            <a:br>
              <a:rPr b="1" lang="en-US" sz="2200">
                <a:latin typeface="Arial"/>
                <a:ea typeface="Arial"/>
                <a:cs typeface="Arial"/>
                <a:sym typeface="Arial"/>
              </a:rPr>
            </a:b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✔ Overcapacity days flagged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▪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Ensured structured and analysis-ready dataset.</a:t>
            </a:r>
            <a:endParaRPr/>
          </a:p>
          <a:p>
            <a:pPr indent="1397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9"/>
          <p:cNvSpPr/>
          <p:nvPr/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197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9"/>
          <p:cNvSpPr/>
          <p:nvPr/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0">
                <a:srgbClr val="0A3041">
                  <a:alpha val="67843"/>
                </a:srgbClr>
              </a:gs>
              <a:gs pos="19000">
                <a:srgbClr val="0A3041">
                  <a:alpha val="67843"/>
                </a:srgbClr>
              </a:gs>
              <a:gs pos="100000">
                <a:srgbClr val="156082">
                  <a:alpha val="47843"/>
                </a:srgbClr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9"/>
          <p:cNvSpPr/>
          <p:nvPr/>
        </p:nvSpPr>
        <p:spPr>
          <a:xfrm flipH="1" rot="-5400000">
            <a:off x="5010646" y="-5010043"/>
            <a:ext cx="2170709" cy="12192000"/>
          </a:xfrm>
          <a:prstGeom prst="rect">
            <a:avLst/>
          </a:prstGeom>
          <a:gradFill>
            <a:gsLst>
              <a:gs pos="0">
                <a:srgbClr val="0F4861">
                  <a:alpha val="16078"/>
                </a:srgbClr>
              </a:gs>
              <a:gs pos="23000">
                <a:srgbClr val="0F4861">
                  <a:alpha val="16078"/>
                </a:srgbClr>
              </a:gs>
              <a:gs pos="99000">
                <a:srgbClr val="000000">
                  <a:alpha val="45098"/>
                </a:srgbClr>
              </a:gs>
              <a:gs pos="100000">
                <a:srgbClr val="000000">
                  <a:alpha val="45098"/>
                </a:srgbClr>
              </a:gs>
            </a:gsLst>
            <a:lin ang="210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9"/>
          <p:cNvSpPr txBox="1"/>
          <p:nvPr>
            <p:ph type="title"/>
          </p:nvPr>
        </p:nvSpPr>
        <p:spPr>
          <a:xfrm>
            <a:off x="1383564" y="348865"/>
            <a:ext cx="9718111" cy="15764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b="1" lang="en-US" sz="4000">
                <a:solidFill>
                  <a:srgbClr val="FFFFFF"/>
                </a:solidFill>
              </a:rPr>
              <a:t>PHASE 2: MYSQL IMPLEMENTATION</a:t>
            </a:r>
            <a:endParaRPr/>
          </a:p>
        </p:txBody>
      </p:sp>
      <p:grpSp>
        <p:nvGrpSpPr>
          <p:cNvPr id="160" name="Google Shape;160;p9"/>
          <p:cNvGrpSpPr/>
          <p:nvPr/>
        </p:nvGrpSpPr>
        <p:grpSpPr>
          <a:xfrm>
            <a:off x="644056" y="2615979"/>
            <a:ext cx="10927828" cy="3689404"/>
            <a:chOff x="0" y="0"/>
            <a:chExt cx="10927828" cy="3689404"/>
          </a:xfrm>
        </p:grpSpPr>
        <p:sp>
          <p:nvSpPr>
            <p:cNvPr id="161" name="Google Shape;161;p9"/>
            <p:cNvSpPr/>
            <p:nvPr/>
          </p:nvSpPr>
          <p:spPr>
            <a:xfrm>
              <a:off x="0" y="0"/>
              <a:ext cx="8414428" cy="664092"/>
            </a:xfrm>
            <a:prstGeom prst="roundRect">
              <a:avLst>
                <a:gd fmla="val 10000" name="adj"/>
              </a:avLst>
            </a:prstGeom>
            <a:solidFill>
              <a:srgbClr val="E97131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9"/>
            <p:cNvSpPr txBox="1"/>
            <p:nvPr/>
          </p:nvSpPr>
          <p:spPr>
            <a:xfrm>
              <a:off x="19451" y="19451"/>
              <a:ext cx="7620120" cy="625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Arial"/>
                <a:buNone/>
              </a:pPr>
              <a:r>
                <a:rPr b="1" lang="en-US" sz="2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Created dedicated healthcare analytics schema</a:t>
              </a:r>
              <a:endParaRPr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9"/>
            <p:cNvSpPr/>
            <p:nvPr/>
          </p:nvSpPr>
          <p:spPr>
            <a:xfrm>
              <a:off x="628350" y="756328"/>
              <a:ext cx="8414428" cy="664092"/>
            </a:xfrm>
            <a:prstGeom prst="roundRect">
              <a:avLst>
                <a:gd fmla="val 10000" name="adj"/>
              </a:avLst>
            </a:prstGeom>
            <a:solidFill>
              <a:srgbClr val="D5AE1D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9"/>
            <p:cNvSpPr txBox="1"/>
            <p:nvPr/>
          </p:nvSpPr>
          <p:spPr>
            <a:xfrm>
              <a:off x="647801" y="775779"/>
              <a:ext cx="7315515" cy="625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Arial"/>
                <a:buNone/>
              </a:pPr>
              <a:r>
                <a:rPr b="1" lang="en-US" sz="2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Imported cleaned CSV tables</a:t>
              </a:r>
              <a:endParaRPr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9"/>
            <p:cNvSpPr/>
            <p:nvPr/>
          </p:nvSpPr>
          <p:spPr>
            <a:xfrm>
              <a:off x="1256700" y="1512656"/>
              <a:ext cx="8414428" cy="664092"/>
            </a:xfrm>
            <a:prstGeom prst="roundRect">
              <a:avLst>
                <a:gd fmla="val 10000" name="adj"/>
              </a:avLst>
            </a:prstGeom>
            <a:solidFill>
              <a:srgbClr val="8CAF1D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9"/>
            <p:cNvSpPr txBox="1"/>
            <p:nvPr/>
          </p:nvSpPr>
          <p:spPr>
            <a:xfrm>
              <a:off x="1276151" y="1532107"/>
              <a:ext cx="7315515" cy="625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Arial"/>
                <a:buNone/>
              </a:pPr>
              <a:r>
                <a:rPr b="1" lang="en-US" sz="2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Validated row counts and data consistency</a:t>
              </a:r>
              <a:endParaRPr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9"/>
            <p:cNvSpPr/>
            <p:nvPr/>
          </p:nvSpPr>
          <p:spPr>
            <a:xfrm>
              <a:off x="1885050" y="2268984"/>
              <a:ext cx="8414428" cy="664092"/>
            </a:xfrm>
            <a:prstGeom prst="roundRect">
              <a:avLst>
                <a:gd fmla="val 10000" name="adj"/>
              </a:avLst>
            </a:prstGeom>
            <a:solidFill>
              <a:srgbClr val="3E8B1B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9"/>
            <p:cNvSpPr txBox="1"/>
            <p:nvPr/>
          </p:nvSpPr>
          <p:spPr>
            <a:xfrm>
              <a:off x="1904501" y="2288435"/>
              <a:ext cx="7315515" cy="625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Arial"/>
                <a:buNone/>
              </a:pPr>
              <a:r>
                <a:rPr b="1" lang="en-US" sz="2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Developed 15 analytical SQL queries</a:t>
              </a:r>
              <a:endParaRPr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9"/>
            <p:cNvSpPr/>
            <p:nvPr/>
          </p:nvSpPr>
          <p:spPr>
            <a:xfrm>
              <a:off x="2513400" y="3025312"/>
              <a:ext cx="8414428" cy="664092"/>
            </a:xfrm>
            <a:prstGeom prst="roundRect">
              <a:avLst>
                <a:gd fmla="val 10000" name="adj"/>
              </a:avLst>
            </a:prstGeom>
            <a:solidFill>
              <a:srgbClr val="186923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9"/>
            <p:cNvSpPr txBox="1"/>
            <p:nvPr/>
          </p:nvSpPr>
          <p:spPr>
            <a:xfrm>
              <a:off x="2532851" y="3044763"/>
              <a:ext cx="7315515" cy="625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Arial"/>
                <a:buNone/>
              </a:pPr>
              <a:r>
                <a:rPr b="1" lang="en-US" sz="2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Generated KPI-focused insights</a:t>
              </a:r>
              <a:endParaRPr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9"/>
            <p:cNvSpPr/>
            <p:nvPr/>
          </p:nvSpPr>
          <p:spPr>
            <a:xfrm>
              <a:off x="7982767" y="485156"/>
              <a:ext cx="431660" cy="43166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F6D4CC">
                <a:alpha val="90196"/>
              </a:srgbClr>
            </a:solidFill>
            <a:ln cap="flat" cmpd="sng" w="19050">
              <a:solidFill>
                <a:srgbClr val="F6D4CC">
                  <a:alpha val="9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9"/>
            <p:cNvSpPr txBox="1"/>
            <p:nvPr/>
          </p:nvSpPr>
          <p:spPr>
            <a:xfrm>
              <a:off x="8079890" y="485156"/>
              <a:ext cx="237414" cy="3248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25" lIns="24125" spcFirstLastPara="1" rIns="24125" wrap="square" tIns="24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9"/>
            <p:cNvSpPr/>
            <p:nvPr/>
          </p:nvSpPr>
          <p:spPr>
            <a:xfrm>
              <a:off x="8611118" y="1241484"/>
              <a:ext cx="431660" cy="43166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EBE5C9">
                <a:alpha val="90196"/>
              </a:srgbClr>
            </a:solidFill>
            <a:ln cap="flat" cmpd="sng" w="19050">
              <a:solidFill>
                <a:srgbClr val="EBE5C9">
                  <a:alpha val="9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9"/>
            <p:cNvSpPr txBox="1"/>
            <p:nvPr/>
          </p:nvSpPr>
          <p:spPr>
            <a:xfrm>
              <a:off x="8708241" y="1241484"/>
              <a:ext cx="237414" cy="3248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25" lIns="24125" spcFirstLastPara="1" rIns="24125" wrap="square" tIns="24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9"/>
            <p:cNvSpPr/>
            <p:nvPr/>
          </p:nvSpPr>
          <p:spPr>
            <a:xfrm>
              <a:off x="9239468" y="1986744"/>
              <a:ext cx="431660" cy="43166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D5E0C8">
                <a:alpha val="90196"/>
              </a:srgbClr>
            </a:solidFill>
            <a:ln cap="flat" cmpd="sng" w="19050">
              <a:solidFill>
                <a:srgbClr val="D5E0C8">
                  <a:alpha val="9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9"/>
            <p:cNvSpPr txBox="1"/>
            <p:nvPr/>
          </p:nvSpPr>
          <p:spPr>
            <a:xfrm>
              <a:off x="9336591" y="1986744"/>
              <a:ext cx="237414" cy="3248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25" lIns="24125" spcFirstLastPara="1" rIns="24125" wrap="square" tIns="24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9"/>
            <p:cNvSpPr/>
            <p:nvPr/>
          </p:nvSpPr>
          <p:spPr>
            <a:xfrm>
              <a:off x="9867818" y="2750451"/>
              <a:ext cx="431660" cy="43166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CAD2CA">
                <a:alpha val="90196"/>
              </a:srgbClr>
            </a:solidFill>
            <a:ln cap="flat" cmpd="sng" w="19050">
              <a:solidFill>
                <a:srgbClr val="CAD2CA">
                  <a:alpha val="9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9"/>
            <p:cNvSpPr txBox="1"/>
            <p:nvPr/>
          </p:nvSpPr>
          <p:spPr>
            <a:xfrm>
              <a:off x="9964941" y="2750451"/>
              <a:ext cx="237414" cy="3248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25" lIns="24125" spcFirstLastPara="1" rIns="24125" wrap="square" tIns="24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"/>
          <p:cNvSpPr/>
          <p:nvPr/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loseup of a keyboard" id="184" name="Google Shape;184;p10"/>
          <p:cNvPicPr preferRelativeResize="0"/>
          <p:nvPr/>
        </p:nvPicPr>
        <p:blipFill rotWithShape="1">
          <a:blip r:embed="rId3">
            <a:alphaModFix amt="55000"/>
          </a:blip>
          <a:srcRect b="13127" l="0" r="0" t="0"/>
          <a:stretch/>
        </p:blipFill>
        <p:spPr>
          <a:xfrm>
            <a:off x="20" y="-9107"/>
            <a:ext cx="1219198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0"/>
          <p:cNvSpPr txBox="1"/>
          <p:nvPr>
            <p:ph type="ctrTitle"/>
          </p:nvPr>
        </p:nvSpPr>
        <p:spPr>
          <a:xfrm>
            <a:off x="686823" y="591350"/>
            <a:ext cx="3760500" cy="55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Play"/>
              <a:buNone/>
            </a:pPr>
            <a:r>
              <a:rPr b="1" lang="en-US" sz="4400">
                <a:solidFill>
                  <a:srgbClr val="FFFFFF"/>
                </a:solidFill>
              </a:rPr>
              <a:t>KEY SQL KPIs DEVELOPED</a:t>
            </a:r>
            <a:endParaRPr/>
          </a:p>
        </p:txBody>
      </p:sp>
      <p:sp>
        <p:nvSpPr>
          <p:cNvPr id="186" name="Google Shape;186;p10"/>
          <p:cNvSpPr/>
          <p:nvPr/>
        </p:nvSpPr>
        <p:spPr>
          <a:xfrm flipH="1" rot="10800000">
            <a:off x="7550402" y="2455479"/>
            <a:ext cx="4083433" cy="4083433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 txBox="1"/>
          <p:nvPr>
            <p:ph idx="1" type="subTitle"/>
          </p:nvPr>
        </p:nvSpPr>
        <p:spPr>
          <a:xfrm>
            <a:off x="4447308" y="591344"/>
            <a:ext cx="6906491" cy="55856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5715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 Symbols"/>
              <a:buChar char="⮚"/>
            </a:pPr>
            <a:r>
              <a:rPr b="1" lang="en-US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following KPIs were computed: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</a:pPr>
            <a:r>
              <a:rPr b="1" lang="en-US" sz="2000">
                <a:solidFill>
                  <a:srgbClr val="FFFFFF"/>
                </a:solidFill>
              </a:rPr>
              <a:t>• Overall Readmission Rate</a:t>
            </a:r>
            <a:br>
              <a:rPr b="1" lang="en-US" sz="2000">
                <a:solidFill>
                  <a:srgbClr val="FFFFFF"/>
                </a:solidFill>
              </a:rPr>
            </a:br>
            <a:r>
              <a:rPr b="1" lang="en-US" sz="2000">
                <a:solidFill>
                  <a:srgbClr val="FFFFFF"/>
                </a:solidFill>
              </a:rPr>
              <a:t>• Readmission Rate by Department</a:t>
            </a:r>
            <a:br>
              <a:rPr b="1" lang="en-US" sz="2000">
                <a:solidFill>
                  <a:srgbClr val="FFFFFF"/>
                </a:solidFill>
              </a:rPr>
            </a:br>
            <a:r>
              <a:rPr b="1" lang="en-US" sz="2000">
                <a:solidFill>
                  <a:srgbClr val="FFFFFF"/>
                </a:solidFill>
              </a:rPr>
              <a:t>• Average Length of Stay by Department</a:t>
            </a:r>
            <a:br>
              <a:rPr b="1" lang="en-US" sz="2000">
                <a:solidFill>
                  <a:srgbClr val="FFFFFF"/>
                </a:solidFill>
              </a:rPr>
            </a:br>
            <a:r>
              <a:rPr b="1" lang="en-US" sz="2000">
                <a:solidFill>
                  <a:srgbClr val="FFFFFF"/>
                </a:solidFill>
              </a:rPr>
              <a:t>• Readmission by Age Band</a:t>
            </a:r>
            <a:br>
              <a:rPr b="1" lang="en-US" sz="2000">
                <a:solidFill>
                  <a:srgbClr val="FFFFFF"/>
                </a:solidFill>
              </a:rPr>
            </a:br>
            <a:r>
              <a:rPr b="1" lang="en-US" sz="2000">
                <a:solidFill>
                  <a:srgbClr val="FFFFFF"/>
                </a:solidFill>
              </a:rPr>
              <a:t>• Revenue by Department</a:t>
            </a:r>
            <a:br>
              <a:rPr b="1" lang="en-US" sz="2000">
                <a:solidFill>
                  <a:srgbClr val="FFFFFF"/>
                </a:solidFill>
              </a:rPr>
            </a:br>
            <a:r>
              <a:rPr b="1" lang="en-US" sz="2000">
                <a:solidFill>
                  <a:srgbClr val="FFFFFF"/>
                </a:solidFill>
              </a:rPr>
              <a:t>• Revenue Lost Due to Rejected Claims</a:t>
            </a:r>
            <a:br>
              <a:rPr b="1" lang="en-US" sz="2000">
                <a:solidFill>
                  <a:srgbClr val="FFFFFF"/>
                </a:solidFill>
              </a:rPr>
            </a:br>
            <a:r>
              <a:rPr b="1" lang="en-US" sz="2000">
                <a:solidFill>
                  <a:srgbClr val="FFFFFF"/>
                </a:solidFill>
              </a:rPr>
              <a:t>• Claim Approval Rate</a:t>
            </a:r>
            <a:br>
              <a:rPr b="1" lang="en-US" sz="2000">
                <a:solidFill>
                  <a:srgbClr val="FFFFFF"/>
                </a:solidFill>
              </a:rPr>
            </a:br>
            <a:r>
              <a:rPr b="1" lang="en-US" sz="2000">
                <a:solidFill>
                  <a:srgbClr val="FFFFFF"/>
                </a:solidFill>
              </a:rPr>
              <a:t>• Claim Status Distribution</a:t>
            </a:r>
            <a:br>
              <a:rPr b="1" lang="en-US" sz="2000">
                <a:solidFill>
                  <a:srgbClr val="FFFFFF"/>
                </a:solidFill>
              </a:rPr>
            </a:br>
            <a:r>
              <a:rPr b="1" lang="en-US" sz="2000">
                <a:solidFill>
                  <a:srgbClr val="FFFFFF"/>
                </a:solidFill>
              </a:rPr>
              <a:t>• Average Settlement Days by Payer</a:t>
            </a:r>
            <a:br>
              <a:rPr b="1" lang="en-US" sz="2000">
                <a:solidFill>
                  <a:srgbClr val="FFFFFF"/>
                </a:solidFill>
              </a:rPr>
            </a:br>
            <a:r>
              <a:rPr b="1" lang="en-US" sz="2000">
                <a:solidFill>
                  <a:srgbClr val="FFFFFF"/>
                </a:solidFill>
              </a:rPr>
              <a:t>• Monthly Revenue Trend</a:t>
            </a:r>
            <a:br>
              <a:rPr b="1" lang="en-US" sz="2000">
                <a:solidFill>
                  <a:srgbClr val="FFFFFF"/>
                </a:solidFill>
              </a:rPr>
            </a:br>
            <a:r>
              <a:rPr b="1" lang="en-US" sz="2000">
                <a:solidFill>
                  <a:srgbClr val="FFFFFF"/>
                </a:solidFill>
              </a:rPr>
              <a:t>• Monthly Readmission Trend</a:t>
            </a:r>
            <a:br>
              <a:rPr b="1" lang="en-US" sz="2000">
                <a:solidFill>
                  <a:srgbClr val="FFFFFF"/>
                </a:solidFill>
              </a:rPr>
            </a:br>
            <a:r>
              <a:rPr b="1" lang="en-US" sz="2000">
                <a:solidFill>
                  <a:srgbClr val="FFFFFF"/>
                </a:solidFill>
              </a:rPr>
              <a:t>• Monthly Occupancy Trend</a:t>
            </a:r>
            <a:br>
              <a:rPr b="1" lang="en-US" sz="2000">
                <a:solidFill>
                  <a:srgbClr val="FFFFFF"/>
                </a:solidFill>
              </a:rPr>
            </a:br>
            <a:r>
              <a:rPr b="1" lang="en-US" sz="2000">
                <a:solidFill>
                  <a:srgbClr val="FFFFFF"/>
                </a:solidFill>
              </a:rPr>
              <a:t>• High-Risk Patient Identification</a:t>
            </a:r>
            <a:endParaRPr/>
          </a:p>
          <a:p>
            <a:pPr indent="1524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FF7FC"/>
            </a:gs>
            <a:gs pos="74000">
              <a:srgbClr val="72C4E9"/>
            </a:gs>
            <a:gs pos="83000">
              <a:srgbClr val="72C4E9"/>
            </a:gs>
            <a:gs pos="100000">
              <a:srgbClr val="A1D6F0"/>
            </a:gs>
          </a:gsLst>
          <a:lin ang="5400000" scaled="0"/>
        </a:gra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"/>
          <p:cNvSpPr txBox="1"/>
          <p:nvPr>
            <p:ph type="title"/>
          </p:nvPr>
        </p:nvSpPr>
        <p:spPr>
          <a:xfrm>
            <a:off x="89719" y="365125"/>
            <a:ext cx="1201256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/>
              <a:t>PHASE 3: POWER BI DASHBOARD DEVELOPMENT</a:t>
            </a:r>
            <a:endParaRPr b="1"/>
          </a:p>
        </p:txBody>
      </p:sp>
      <p:sp>
        <p:nvSpPr>
          <p:cNvPr id="193" name="Google Shape;193;p11"/>
          <p:cNvSpPr txBox="1"/>
          <p:nvPr>
            <p:ph idx="1" type="body"/>
          </p:nvPr>
        </p:nvSpPr>
        <p:spPr>
          <a:xfrm>
            <a:off x="453512" y="1914115"/>
            <a:ext cx="11648768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b="1" lang="en-US"/>
              <a:t>Imported Data  into Power BI for Visualization and Dashboard Development.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b="1" lang="en-US"/>
              <a:t>Dashboard Structure: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▪"/>
            </a:pPr>
            <a:r>
              <a:rPr b="1" lang="en-US"/>
              <a:t>4 Analytical Pages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▪"/>
            </a:pPr>
            <a:r>
              <a:rPr b="1" lang="en-US"/>
              <a:t>Executive Overview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▪"/>
            </a:pPr>
            <a:r>
              <a:rPr b="1" lang="en-US"/>
              <a:t>Readmission Analytics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▪"/>
            </a:pPr>
            <a:r>
              <a:rPr b="1" lang="en-US"/>
              <a:t>Claims &amp; Revenue Leakage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▪"/>
            </a:pPr>
            <a:r>
              <a:rPr b="1" lang="en-US"/>
              <a:t>Operations &amp; Capacity Monitoring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▪"/>
            </a:pPr>
            <a:r>
              <a:rPr b="1" lang="en-US"/>
              <a:t> 1 Final Integrated Executive Dashboard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Key Features</a:t>
            </a:r>
            <a:r>
              <a:rPr b="1" lang="en-US"/>
              <a:t>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•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Custom DAX Measures for KPI calculation</a:t>
            </a:r>
            <a:br>
              <a:rPr b="1" lang="en-US">
                <a:latin typeface="Arial"/>
                <a:ea typeface="Arial"/>
                <a:cs typeface="Arial"/>
                <a:sym typeface="Arial"/>
              </a:rPr>
            </a:br>
            <a:r>
              <a:rPr b="1" lang="en-US">
                <a:latin typeface="Arial"/>
                <a:ea typeface="Arial"/>
                <a:cs typeface="Arial"/>
                <a:sym typeface="Arial"/>
              </a:rPr>
              <a:t>• Relationship modeling between 5 datasets</a:t>
            </a:r>
            <a:br>
              <a:rPr b="1" lang="en-US">
                <a:latin typeface="Arial"/>
                <a:ea typeface="Arial"/>
                <a:cs typeface="Arial"/>
                <a:sym typeface="Arial"/>
              </a:rPr>
            </a:br>
            <a:r>
              <a:rPr b="1" lang="en-US">
                <a:latin typeface="Arial"/>
                <a:ea typeface="Arial"/>
                <a:cs typeface="Arial"/>
                <a:sym typeface="Arial"/>
              </a:rPr>
              <a:t>• Dynamic slicers for interactive filtering</a:t>
            </a:r>
            <a:br>
              <a:rPr b="1" lang="en-US">
                <a:latin typeface="Arial"/>
                <a:ea typeface="Arial"/>
                <a:cs typeface="Arial"/>
                <a:sym typeface="Arial"/>
              </a:rPr>
            </a:br>
            <a:r>
              <a:rPr b="1" lang="en-US">
                <a:latin typeface="Arial"/>
                <a:ea typeface="Arial"/>
                <a:cs typeface="Arial"/>
                <a:sym typeface="Arial"/>
              </a:rPr>
              <a:t>• Business-focused KPI cards and trend visuals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✔"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The dashboard was designed to support management-level decision-making with real-time performance insights.</a:t>
            </a:r>
            <a:endParaRPr/>
          </a:p>
          <a:p>
            <a:pPr indent="-11747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2"/>
          <p:cNvSpPr txBox="1"/>
          <p:nvPr>
            <p:ph type="title"/>
          </p:nvPr>
        </p:nvSpPr>
        <p:spPr>
          <a:xfrm>
            <a:off x="5297762" y="329184"/>
            <a:ext cx="625111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None/>
            </a:pPr>
            <a:r>
              <a:rPr b="1" lang="en-US" sz="4600">
                <a:latin typeface="Arial"/>
                <a:ea typeface="Arial"/>
                <a:cs typeface="Arial"/>
                <a:sym typeface="Arial"/>
              </a:rPr>
              <a:t>EXECUTIVE OVERVIEW INSIGHTS</a:t>
            </a:r>
            <a:endParaRPr/>
          </a:p>
        </p:txBody>
      </p:sp>
      <p:pic>
        <p:nvPicPr>
          <p:cNvPr descr="Digital financial graph" id="200" name="Google Shape;200;p12"/>
          <p:cNvPicPr preferRelativeResize="0"/>
          <p:nvPr/>
        </p:nvPicPr>
        <p:blipFill rotWithShape="1">
          <a:blip r:embed="rId3">
            <a:alphaModFix/>
          </a:blip>
          <a:srcRect b="0" l="38543" r="23257" t="0"/>
          <a:stretch/>
        </p:blipFill>
        <p:spPr>
          <a:xfrm>
            <a:off x="1" y="10"/>
            <a:ext cx="4657344" cy="6857990"/>
          </a:xfrm>
          <a:custGeom>
            <a:rect b="b" l="l" r="r" t="t"/>
            <a:pathLst>
              <a:path extrusionOk="0" h="6858000" w="4657344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01" name="Google Shape;201;p12"/>
          <p:cNvSpPr/>
          <p:nvPr/>
        </p:nvSpPr>
        <p:spPr>
          <a:xfrm>
            <a:off x="5297762" y="2374947"/>
            <a:ext cx="4243589" cy="18288"/>
          </a:xfrm>
          <a:custGeom>
            <a:rect b="b" l="l" r="r" t="t"/>
            <a:pathLst>
              <a:path extrusionOk="0" fill="none" h="18288" w="4243589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extrusionOk="0" h="18288" w="4243589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2"/>
          <p:cNvSpPr txBox="1"/>
          <p:nvPr>
            <p:ph idx="1" type="body"/>
          </p:nvPr>
        </p:nvSpPr>
        <p:spPr>
          <a:xfrm>
            <a:off x="5297762" y="2706624"/>
            <a:ext cx="6251110" cy="3483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The Executive Dashboard provides: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• </a:t>
            </a: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Real-time KPI monitoring</a:t>
            </a:r>
            <a:br>
              <a:rPr b="1" lang="en-US" sz="2200">
                <a:latin typeface="Arial"/>
                <a:ea typeface="Arial"/>
                <a:cs typeface="Arial"/>
                <a:sym typeface="Arial"/>
              </a:rPr>
            </a:b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• Readmission rate tracking</a:t>
            </a:r>
            <a:br>
              <a:rPr b="1" lang="en-US" sz="2200">
                <a:latin typeface="Arial"/>
                <a:ea typeface="Arial"/>
                <a:cs typeface="Arial"/>
                <a:sym typeface="Arial"/>
              </a:rPr>
            </a:b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• Revenue performance visibility</a:t>
            </a:r>
            <a:br>
              <a:rPr b="1" lang="en-US" sz="2200">
                <a:latin typeface="Arial"/>
                <a:ea typeface="Arial"/>
                <a:cs typeface="Arial"/>
                <a:sym typeface="Arial"/>
              </a:rPr>
            </a:b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• Claim approval efficiency</a:t>
            </a:r>
            <a:br>
              <a:rPr b="1" lang="en-US" sz="2200">
                <a:latin typeface="Arial"/>
                <a:ea typeface="Arial"/>
                <a:cs typeface="Arial"/>
                <a:sym typeface="Arial"/>
              </a:rPr>
            </a:b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• Capacity utilization overview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b="1" sz="22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✔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Enables high-level strategic decision-making.</a:t>
            </a:r>
            <a:endParaRPr/>
          </a:p>
          <a:p>
            <a:pPr indent="-889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3"/>
          <p:cNvSpPr txBox="1"/>
          <p:nvPr>
            <p:ph type="ctrTitle"/>
          </p:nvPr>
        </p:nvSpPr>
        <p:spPr>
          <a:xfrm>
            <a:off x="4654296" y="329184"/>
            <a:ext cx="6894576" cy="1783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</a:pPr>
            <a:r>
              <a:rPr b="1" lang="en-US" sz="5400"/>
              <a:t>READMISSION ANALYTICS INSIGHTS</a:t>
            </a:r>
            <a:endParaRPr/>
          </a:p>
        </p:txBody>
      </p:sp>
      <p:pic>
        <p:nvPicPr>
          <p:cNvPr descr="Complex math formulas on a blackboard" id="209" name="Google Shape;209;p13"/>
          <p:cNvPicPr preferRelativeResize="0"/>
          <p:nvPr/>
        </p:nvPicPr>
        <p:blipFill rotWithShape="1">
          <a:blip r:embed="rId3">
            <a:alphaModFix/>
          </a:blip>
          <a:srcRect b="-1" l="35393" r="21468" t="0"/>
          <a:stretch/>
        </p:blipFill>
        <p:spPr>
          <a:xfrm>
            <a:off x="20" y="1"/>
            <a:ext cx="4052522" cy="6858000"/>
          </a:xfrm>
          <a:custGeom>
            <a:rect b="b" l="l" r="r" t="t"/>
            <a:pathLst>
              <a:path extrusionOk="0" h="6858000" w="4052542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10" name="Google Shape;210;p13"/>
          <p:cNvSpPr/>
          <p:nvPr/>
        </p:nvSpPr>
        <p:spPr>
          <a:xfrm>
            <a:off x="4654296" y="2395728"/>
            <a:ext cx="4243589" cy="18288"/>
          </a:xfrm>
          <a:custGeom>
            <a:rect b="b" l="l" r="r" t="t"/>
            <a:pathLst>
              <a:path extrusionOk="0" fill="none" h="18288" w="4243589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extrusionOk="0" h="18288" w="4243589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3"/>
          <p:cNvSpPr txBox="1"/>
          <p:nvPr>
            <p:ph idx="1" type="subTitle"/>
          </p:nvPr>
        </p:nvSpPr>
        <p:spPr>
          <a:xfrm>
            <a:off x="4052542" y="2706624"/>
            <a:ext cx="7583449" cy="3483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Key findings:</a:t>
            </a:r>
            <a:endParaRPr/>
          </a:p>
          <a:p>
            <a:pPr indent="-2286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1" lang="en-US" sz="1900"/>
              <a:t>Readmission rate remains significantly elevated (~50%+)</a:t>
            </a:r>
            <a:endParaRPr/>
          </a:p>
          <a:p>
            <a:pPr indent="-2286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1" lang="en-US" sz="1900"/>
              <a:t>Certain departments contribute disproportionately to readmission risk</a:t>
            </a:r>
            <a:endParaRPr/>
          </a:p>
          <a:p>
            <a:pPr indent="-2286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1" lang="en-US" sz="1900"/>
              <a:t>Patients with longer LOS (&gt;5 days) show higher readmission probability</a:t>
            </a:r>
            <a:endParaRPr/>
          </a:p>
          <a:p>
            <a:pPr indent="-2286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1" lang="en-US" sz="1900"/>
              <a:t>Elderly segments exhibit slightly elevated risk</a:t>
            </a:r>
            <a:endParaRPr/>
          </a:p>
          <a:p>
            <a:pPr indent="-10795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1" sz="1900"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Indicates need for improved discharge and follow-up protocols.</a:t>
            </a:r>
            <a:endParaRPr/>
          </a:p>
          <a:p>
            <a:pPr indent="12065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/>
              <a:t>FINANCIAL INSIGHTS</a:t>
            </a:r>
            <a:endParaRPr/>
          </a:p>
        </p:txBody>
      </p:sp>
      <p:grpSp>
        <p:nvGrpSpPr>
          <p:cNvPr id="217" name="Google Shape;217;p14"/>
          <p:cNvGrpSpPr/>
          <p:nvPr/>
        </p:nvGrpSpPr>
        <p:grpSpPr>
          <a:xfrm>
            <a:off x="838200" y="1827749"/>
            <a:ext cx="10515600" cy="4347088"/>
            <a:chOff x="0" y="2124"/>
            <a:chExt cx="10515600" cy="4347088"/>
          </a:xfrm>
        </p:grpSpPr>
        <p:cxnSp>
          <p:nvCxnSpPr>
            <p:cNvPr id="218" name="Google Shape;218;p14"/>
            <p:cNvCxnSpPr/>
            <p:nvPr/>
          </p:nvCxnSpPr>
          <p:spPr>
            <a:xfrm>
              <a:off x="0" y="2124"/>
              <a:ext cx="10515600" cy="0"/>
            </a:xfrm>
            <a:prstGeom prst="straightConnector1">
              <a:avLst/>
            </a:prstGeom>
            <a:solidFill>
              <a:srgbClr val="126082"/>
            </a:solidFill>
            <a:ln cap="flat" cmpd="sng" w="19050">
              <a:solidFill>
                <a:srgbClr val="12608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19" name="Google Shape;219;p14"/>
            <p:cNvSpPr/>
            <p:nvPr/>
          </p:nvSpPr>
          <p:spPr>
            <a:xfrm>
              <a:off x="0" y="2124"/>
              <a:ext cx="10515600" cy="7245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4"/>
            <p:cNvSpPr txBox="1"/>
            <p:nvPr/>
          </p:nvSpPr>
          <p:spPr>
            <a:xfrm>
              <a:off x="0" y="2124"/>
              <a:ext cx="10515600" cy="7245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250" lIns="95250" spcFirstLastPara="1" rIns="95250" wrap="square" tIns="952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rial"/>
                <a:buNone/>
              </a:pPr>
              <a:r>
                <a:rPr b="1" lang="en-US" sz="2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Key financial observations</a:t>
              </a:r>
              <a:r>
                <a:rPr lang="en-US" sz="2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:</a:t>
              </a:r>
              <a:endParaRPr/>
            </a:p>
          </p:txBody>
        </p:sp>
        <p:cxnSp>
          <p:nvCxnSpPr>
            <p:cNvPr id="221" name="Google Shape;221;p14"/>
            <p:cNvCxnSpPr/>
            <p:nvPr/>
          </p:nvCxnSpPr>
          <p:spPr>
            <a:xfrm>
              <a:off x="0" y="726639"/>
              <a:ext cx="10515600" cy="0"/>
            </a:xfrm>
            <a:prstGeom prst="straightConnector1">
              <a:avLst/>
            </a:prstGeom>
            <a:solidFill>
              <a:srgbClr val="126082"/>
            </a:solidFill>
            <a:ln cap="flat" cmpd="sng" w="19050">
              <a:solidFill>
                <a:srgbClr val="12608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22" name="Google Shape;222;p14"/>
            <p:cNvSpPr/>
            <p:nvPr/>
          </p:nvSpPr>
          <p:spPr>
            <a:xfrm>
              <a:off x="0" y="726639"/>
              <a:ext cx="10515600" cy="7245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4"/>
            <p:cNvSpPr txBox="1"/>
            <p:nvPr/>
          </p:nvSpPr>
          <p:spPr>
            <a:xfrm>
              <a:off x="0" y="726639"/>
              <a:ext cx="10515600" cy="7245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250" lIns="95250" spcFirstLastPara="1" rIns="95250" wrap="square" tIns="952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rial"/>
                <a:buNone/>
              </a:pPr>
              <a:r>
                <a:rPr b="1" lang="en-US" sz="2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Significant revenue exposure due to rejected claims</a:t>
              </a:r>
              <a:endPara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4" name="Google Shape;224;p14"/>
            <p:cNvCxnSpPr/>
            <p:nvPr/>
          </p:nvCxnSpPr>
          <p:spPr>
            <a:xfrm>
              <a:off x="0" y="1451154"/>
              <a:ext cx="10515600" cy="0"/>
            </a:xfrm>
            <a:prstGeom prst="straightConnector1">
              <a:avLst/>
            </a:prstGeom>
            <a:solidFill>
              <a:srgbClr val="126082"/>
            </a:solidFill>
            <a:ln cap="flat" cmpd="sng" w="19050">
              <a:solidFill>
                <a:srgbClr val="12608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25" name="Google Shape;225;p14"/>
            <p:cNvSpPr/>
            <p:nvPr/>
          </p:nvSpPr>
          <p:spPr>
            <a:xfrm>
              <a:off x="0" y="1451154"/>
              <a:ext cx="10515600" cy="7245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4"/>
            <p:cNvSpPr txBox="1"/>
            <p:nvPr/>
          </p:nvSpPr>
          <p:spPr>
            <a:xfrm>
              <a:off x="0" y="1451154"/>
              <a:ext cx="10515600" cy="7245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250" lIns="95250" spcFirstLastPara="1" rIns="95250" wrap="square" tIns="952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rial"/>
                <a:buNone/>
              </a:pPr>
              <a:r>
                <a:rPr b="1" lang="en-US" sz="2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Revenue at Risk estimated at ~38–40% of claim value</a:t>
              </a:r>
              <a:endPara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7" name="Google Shape;227;p14"/>
            <p:cNvCxnSpPr/>
            <p:nvPr/>
          </p:nvCxnSpPr>
          <p:spPr>
            <a:xfrm>
              <a:off x="0" y="2175669"/>
              <a:ext cx="10515600" cy="0"/>
            </a:xfrm>
            <a:prstGeom prst="straightConnector1">
              <a:avLst/>
            </a:prstGeom>
            <a:solidFill>
              <a:srgbClr val="126082"/>
            </a:solidFill>
            <a:ln cap="flat" cmpd="sng" w="19050">
              <a:solidFill>
                <a:srgbClr val="12608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28" name="Google Shape;228;p14"/>
            <p:cNvSpPr/>
            <p:nvPr/>
          </p:nvSpPr>
          <p:spPr>
            <a:xfrm>
              <a:off x="0" y="2175669"/>
              <a:ext cx="10515600" cy="7245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4"/>
            <p:cNvSpPr txBox="1"/>
            <p:nvPr/>
          </p:nvSpPr>
          <p:spPr>
            <a:xfrm>
              <a:off x="0" y="2175669"/>
              <a:ext cx="10515600" cy="7245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250" lIns="95250" spcFirstLastPara="1" rIns="95250" wrap="square" tIns="952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rial"/>
                <a:buNone/>
              </a:pPr>
              <a:r>
                <a:rPr b="1" lang="en-US" sz="2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Government insurance schemes contribute highest rejection amount</a:t>
              </a:r>
              <a:endPara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0" name="Google Shape;230;p14"/>
            <p:cNvCxnSpPr/>
            <p:nvPr/>
          </p:nvCxnSpPr>
          <p:spPr>
            <a:xfrm>
              <a:off x="0" y="2900183"/>
              <a:ext cx="10515600" cy="0"/>
            </a:xfrm>
            <a:prstGeom prst="straightConnector1">
              <a:avLst/>
            </a:prstGeom>
            <a:solidFill>
              <a:srgbClr val="126082"/>
            </a:solidFill>
            <a:ln cap="flat" cmpd="sng" w="19050">
              <a:solidFill>
                <a:srgbClr val="12608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31" name="Google Shape;231;p14"/>
            <p:cNvSpPr/>
            <p:nvPr/>
          </p:nvSpPr>
          <p:spPr>
            <a:xfrm>
              <a:off x="0" y="2900183"/>
              <a:ext cx="10515600" cy="7245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4"/>
            <p:cNvSpPr txBox="1"/>
            <p:nvPr/>
          </p:nvSpPr>
          <p:spPr>
            <a:xfrm>
              <a:off x="0" y="2900183"/>
              <a:ext cx="10515600" cy="7245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250" lIns="95250" spcFirstLastPara="1" rIns="95250" wrap="square" tIns="952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rial"/>
                <a:buNone/>
              </a:pPr>
              <a:r>
                <a:rPr b="1" lang="en-US" sz="2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Average settlement cycle impacts hospital cash flow</a:t>
              </a:r>
              <a:endPara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3" name="Google Shape;233;p14"/>
            <p:cNvCxnSpPr/>
            <p:nvPr/>
          </p:nvCxnSpPr>
          <p:spPr>
            <a:xfrm>
              <a:off x="0" y="3624698"/>
              <a:ext cx="10515600" cy="0"/>
            </a:xfrm>
            <a:prstGeom prst="straightConnector1">
              <a:avLst/>
            </a:prstGeom>
            <a:solidFill>
              <a:srgbClr val="126082"/>
            </a:solidFill>
            <a:ln cap="flat" cmpd="sng" w="19050">
              <a:solidFill>
                <a:srgbClr val="12608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34" name="Google Shape;234;p14"/>
            <p:cNvSpPr/>
            <p:nvPr/>
          </p:nvSpPr>
          <p:spPr>
            <a:xfrm>
              <a:off x="0" y="3624698"/>
              <a:ext cx="10515600" cy="7245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4"/>
            <p:cNvSpPr txBox="1"/>
            <p:nvPr/>
          </p:nvSpPr>
          <p:spPr>
            <a:xfrm>
              <a:off x="0" y="3624698"/>
              <a:ext cx="10515600" cy="7245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250" lIns="95250" spcFirstLastPara="1" rIns="95250" wrap="square" tIns="952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rial"/>
                <a:buNone/>
              </a:pPr>
              <a:r>
                <a:rPr b="1" lang="en-US" sz="2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Insights: </a:t>
              </a:r>
              <a:r>
                <a:rPr b="0" i="1" lang="en-US" sz="2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Highlights need for claim process optimization</a:t>
              </a:r>
              <a:r>
                <a:rPr b="1" lang="en-US" sz="2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5"/>
          <p:cNvSpPr/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5"/>
          <p:cNvSpPr/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cap="flat" cmpd="sng" w="190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5"/>
          <p:cNvSpPr txBox="1"/>
          <p:nvPr>
            <p:ph type="ctrTitle"/>
          </p:nvPr>
        </p:nvSpPr>
        <p:spPr>
          <a:xfrm>
            <a:off x="1285240" y="1050595"/>
            <a:ext cx="8074815" cy="1618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Play"/>
              <a:buNone/>
            </a:pPr>
            <a:r>
              <a:rPr b="1" lang="en-US" sz="5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OPERATIONAL INSIGHTS</a:t>
            </a:r>
            <a:endParaRPr/>
          </a:p>
        </p:txBody>
      </p:sp>
      <p:sp>
        <p:nvSpPr>
          <p:cNvPr id="244" name="Google Shape;244;p15"/>
          <p:cNvSpPr txBox="1"/>
          <p:nvPr>
            <p:ph idx="1" type="subTitle"/>
          </p:nvPr>
        </p:nvSpPr>
        <p:spPr>
          <a:xfrm>
            <a:off x="1285240" y="2969469"/>
            <a:ext cx="9838285" cy="3261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5715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Operational analysis indicates: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Average occupancy ~69%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Identified overcapacity days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Staffing levels not dynamically aligned with occupancy spikes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Capacity peaks may contribute to quality decline</a:t>
            </a:r>
            <a:endParaRPr/>
          </a:p>
          <a:p>
            <a:pPr indent="1524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/>
          </a:p>
          <a:p>
            <a:pPr indent="1524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6"/>
          <p:cNvSpPr/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6"/>
          <p:cNvSpPr/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cap="flat" cmpd="sng" w="190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6"/>
          <p:cNvSpPr txBox="1"/>
          <p:nvPr>
            <p:ph type="ctrTitle"/>
          </p:nvPr>
        </p:nvSpPr>
        <p:spPr>
          <a:xfrm>
            <a:off x="1285240" y="1050595"/>
            <a:ext cx="8074815" cy="1618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Play"/>
              <a:buNone/>
            </a:pPr>
            <a:r>
              <a:rPr b="1" lang="en-US" sz="5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HIGH-RISK PATIENT PROFILE</a:t>
            </a:r>
            <a:endParaRPr/>
          </a:p>
        </p:txBody>
      </p:sp>
      <p:sp>
        <p:nvSpPr>
          <p:cNvPr id="253" name="Google Shape;253;p16"/>
          <p:cNvSpPr txBox="1"/>
          <p:nvPr>
            <p:ph idx="1" type="subTitle"/>
          </p:nvPr>
        </p:nvSpPr>
        <p:spPr>
          <a:xfrm>
            <a:off x="1285240" y="2969469"/>
            <a:ext cx="8074815" cy="2800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5715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1" lang="en-US"/>
              <a:t>High-risk patients typically exhibit: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• </a:t>
            </a:r>
            <a:r>
              <a:rPr b="1" lang="en-US"/>
              <a:t>Length of Stay greater than 5 days</a:t>
            </a:r>
            <a:br>
              <a:rPr b="1" lang="en-US"/>
            </a:br>
            <a:r>
              <a:rPr b="1" lang="en-US"/>
              <a:t>• Prior admission history</a:t>
            </a:r>
            <a:br>
              <a:rPr b="1" lang="en-US"/>
            </a:br>
            <a:r>
              <a:rPr b="1" lang="en-US"/>
              <a:t>• Belong to moderate-to-elderly age segments</a:t>
            </a:r>
            <a:br>
              <a:rPr b="1" lang="en-US"/>
            </a:br>
            <a:r>
              <a:rPr b="1" lang="en-US"/>
              <a:t>• Associated with high-cost treatments</a:t>
            </a:r>
            <a:endParaRPr/>
          </a:p>
          <a:p>
            <a:pPr indent="1524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7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7"/>
          <p:cNvSpPr txBox="1"/>
          <p:nvPr>
            <p:ph type="ctrTitle"/>
          </p:nvPr>
        </p:nvSpPr>
        <p:spPr>
          <a:xfrm>
            <a:off x="5297749" y="329175"/>
            <a:ext cx="6753900" cy="178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Play"/>
              <a:buNone/>
            </a:pPr>
            <a:r>
              <a:rPr b="1" lang="en-US" sz="5000"/>
              <a:t>STRATEGIC RECOMMENDATIONS</a:t>
            </a:r>
            <a:endParaRPr/>
          </a:p>
        </p:txBody>
      </p:sp>
      <p:pic>
        <p:nvPicPr>
          <p:cNvPr descr="Person holding chess piece" id="260" name="Google Shape;260;p17"/>
          <p:cNvPicPr preferRelativeResize="0"/>
          <p:nvPr/>
        </p:nvPicPr>
        <p:blipFill rotWithShape="1">
          <a:blip r:embed="rId3">
            <a:alphaModFix/>
          </a:blip>
          <a:srcRect b="2" l="26823" r="21734" t="0"/>
          <a:stretch/>
        </p:blipFill>
        <p:spPr>
          <a:xfrm>
            <a:off x="1" y="10"/>
            <a:ext cx="4657344" cy="6857990"/>
          </a:xfrm>
          <a:custGeom>
            <a:rect b="b" l="l" r="r" t="t"/>
            <a:pathLst>
              <a:path extrusionOk="0" h="6858000" w="4657344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61" name="Google Shape;261;p17"/>
          <p:cNvSpPr/>
          <p:nvPr/>
        </p:nvSpPr>
        <p:spPr>
          <a:xfrm>
            <a:off x="5297762" y="2374947"/>
            <a:ext cx="4243589" cy="18288"/>
          </a:xfrm>
          <a:custGeom>
            <a:rect b="b" l="l" r="r" t="t"/>
            <a:pathLst>
              <a:path extrusionOk="0" fill="none" h="18288" w="4243589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extrusionOk="0" h="18288" w="4243589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7"/>
          <p:cNvSpPr txBox="1"/>
          <p:nvPr>
            <p:ph idx="1" type="subTitle"/>
          </p:nvPr>
        </p:nvSpPr>
        <p:spPr>
          <a:xfrm>
            <a:off x="5297762" y="2706624"/>
            <a:ext cx="6251110" cy="3483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5715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Operational Recommendations: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b="1" lang="en-US" sz="1700"/>
              <a:t>• Strengthen discharge planning framework</a:t>
            </a:r>
            <a:br>
              <a:rPr b="1" lang="en-US" sz="1700"/>
            </a:br>
            <a:r>
              <a:rPr b="1" lang="en-US" sz="1700"/>
              <a:t>• Implement post-discharge monitoring for high-risk patients</a:t>
            </a:r>
            <a:endParaRPr/>
          </a:p>
          <a:p>
            <a:pPr indent="-2857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Financial Recommendations: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n-US" sz="1700"/>
              <a:t>• </a:t>
            </a:r>
            <a:r>
              <a:rPr b="1" lang="en-US" sz="1700"/>
              <a:t>Improve claim documentation quality</a:t>
            </a:r>
            <a:br>
              <a:rPr b="1" lang="en-US" sz="1700"/>
            </a:br>
            <a:r>
              <a:rPr b="1" lang="en-US" sz="1700"/>
              <a:t>• Negotiate with high-rejection payers</a:t>
            </a:r>
            <a:br>
              <a:rPr b="1" lang="en-US" sz="1700"/>
            </a:br>
            <a:r>
              <a:rPr b="1" lang="en-US" sz="1700"/>
              <a:t>• Monitor settlement cycle performance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Capacity Recommendations: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b="1" lang="en-US" sz="1700"/>
              <a:t>• Predictive occupancy planning</a:t>
            </a:r>
            <a:br>
              <a:rPr b="1" lang="en-US" sz="1700"/>
            </a:br>
            <a:r>
              <a:rPr b="1" lang="en-US" sz="1700"/>
              <a:t>• Dynamic staff allocation</a:t>
            </a:r>
            <a:endParaRPr/>
          </a:p>
          <a:p>
            <a:pPr indent="10795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/>
              <a:t>PROJECT OUTCOME</a:t>
            </a:r>
            <a:endParaRPr b="1"/>
          </a:p>
        </p:txBody>
      </p:sp>
      <p:sp>
        <p:nvSpPr>
          <p:cNvPr id="268" name="Google Shape;268;p18"/>
          <p:cNvSpPr txBox="1"/>
          <p:nvPr>
            <p:ph idx="1" type="body"/>
          </p:nvPr>
        </p:nvSpPr>
        <p:spPr>
          <a:xfrm>
            <a:off x="838200" y="1825625"/>
            <a:ext cx="1122987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Clean and structured healthcare dataset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br>
              <a:rPr lang="en-US"/>
            </a:br>
            <a:r>
              <a:rPr lang="en-US"/>
              <a:t>✔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15+ business KPIs computed</a:t>
            </a:r>
            <a:br>
              <a:rPr b="1" lang="en-US">
                <a:latin typeface="Arial"/>
                <a:ea typeface="Arial"/>
                <a:cs typeface="Arial"/>
                <a:sym typeface="Arial"/>
              </a:rPr>
            </a:br>
            <a:r>
              <a:rPr b="1" lang="en-US">
                <a:latin typeface="Arial"/>
                <a:ea typeface="Arial"/>
                <a:cs typeface="Arial"/>
                <a:sym typeface="Arial"/>
              </a:rPr>
              <a:t>✔ Revenue leakage quantified</a:t>
            </a:r>
            <a:br>
              <a:rPr b="1" lang="en-US">
                <a:latin typeface="Arial"/>
                <a:ea typeface="Arial"/>
                <a:cs typeface="Arial"/>
                <a:sym typeface="Arial"/>
              </a:rPr>
            </a:br>
            <a:r>
              <a:rPr b="1" lang="en-US">
                <a:latin typeface="Arial"/>
                <a:ea typeface="Arial"/>
                <a:cs typeface="Arial"/>
                <a:sym typeface="Arial"/>
              </a:rPr>
              <a:t>✔ Readmission drivers identified</a:t>
            </a:r>
            <a:br>
              <a:rPr b="1" lang="en-US">
                <a:latin typeface="Arial"/>
                <a:ea typeface="Arial"/>
                <a:cs typeface="Arial"/>
                <a:sym typeface="Arial"/>
              </a:rPr>
            </a:br>
            <a:r>
              <a:rPr b="1" lang="en-US">
                <a:latin typeface="Arial"/>
                <a:ea typeface="Arial"/>
                <a:cs typeface="Arial"/>
                <a:sym typeface="Arial"/>
              </a:rPr>
              <a:t>✔ Executive-level performance dashboard delivered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1" i="1" lang="en-US"/>
              <a:t>This system enables data-driven hospital performance management.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9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4" name="Google Shape;274;p19"/>
          <p:cNvPicPr preferRelativeResize="0"/>
          <p:nvPr/>
        </p:nvPicPr>
        <p:blipFill rotWithShape="1">
          <a:blip r:embed="rId3">
            <a:alphaModFix/>
          </a:blip>
          <a:srcRect b="0" l="0" r="0"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2026-02-26T03:29:57Z</dcterms:created>
  <dc:creator>Jatin Sharma</dc:creator>
</cp:coreProperties>
</file>